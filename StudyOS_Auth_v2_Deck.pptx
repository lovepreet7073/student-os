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StudyOS Auth v2 — the calm, friendly redesign of the sign-in experience. Walk through the concept, screens and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redesign brief: simpler, fewer colors, more user-friendly. We stripped the bold neubrutalist version down to a calm SaaS look.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landing hero: audience switch, headline, two clear actions, and a live product preview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restrained feature grid — six tiles, one soft icon each, calm copy. The set swaps for teachers.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Login is a two-pane split on desktop and tablet: a branded panel with a testimonial beside a focused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Register leads with a role picker — student or teacher — before the fields, plus Google, and a trust panel with stats.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underneath: one accent, warm neutrals, Plus Jakarta Sans, soft radii and shadows.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Mobile-first: everything stacks to a single focused column on phones, and the auth split reappears on tablet and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Wrap: a calm, cohesive auth system ready to build. Thanks.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5F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8750" y="1238250"/>
            <a:ext cx="609600" cy="609600"/>
          </a:xfrm>
          <a:prstGeom prst="roundRect">
            <a:avLst>
              <a:gd name="adj" fmla="val 28125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390650" y="123825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2209800" y="1314450"/>
            <a:ext cx="161233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spc="-5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StudyOS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428750" y="3079750"/>
            <a:ext cx="169735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· V2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428750" y="3644900"/>
            <a:ext cx="13735050" cy="2552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968"/>
              </a:lnSpc>
              <a:buNone/>
            </a:pPr>
            <a:r>
              <a:rPr lang="en-US" sz="9900" b="1" spc="-34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calmer way to sign in.</a:t>
            </a:r>
            <a:endParaRPr lang="en-US" sz="9900" dirty="0"/>
          </a:p>
        </p:txBody>
      </p:sp>
      <p:sp>
        <p:nvSpPr>
          <p:cNvPr id="7" name="Text 5"/>
          <p:cNvSpPr/>
          <p:nvPr/>
        </p:nvSpPr>
        <p:spPr>
          <a:xfrm>
            <a:off x="1428750" y="6521450"/>
            <a:ext cx="1059561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7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friendly, mobile-first auth experience for students and teachers — one accent, soft surfaces, and copy that gets out of the way.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1428750" y="8848725"/>
            <a:ext cx="133350" cy="13335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695450" y="8782050"/>
            <a:ext cx="2916961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· Login · Register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4097000" y="6477000"/>
            <a:ext cx="5334000" cy="53340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8750" y="2417465"/>
            <a:ext cx="169735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5B5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DIRECTION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28750" y="2988965"/>
            <a:ext cx="13735050" cy="1798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516"/>
              </a:lnSpc>
              <a:buNone/>
            </a:pPr>
            <a:r>
              <a:rPr lang="en-US" sz="6600" b="1" spc="-198" kern="0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Calm, minimal, premium — and genuinely mobile-first.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428750" y="5415855"/>
            <a:ext cx="4927600" cy="2453580"/>
          </a:xfrm>
          <a:prstGeom prst="roundRect">
            <a:avLst>
              <a:gd name="adj" fmla="val 9317"/>
            </a:avLst>
          </a:prstGeom>
          <a:solidFill>
            <a:srgbClr val="FFFFFF"/>
          </a:solidFill>
          <a:ln w="635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54200" y="5841306"/>
            <a:ext cx="4484370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accent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854200" y="6381056"/>
            <a:ext cx="4199001" cy="1101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1C1B22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indigo instead of a rainbow. Soft shadows and light borders replace hard outlines.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80200" y="5415855"/>
            <a:ext cx="4927600" cy="2453580"/>
          </a:xfrm>
          <a:prstGeom prst="roundRect">
            <a:avLst>
              <a:gd name="adj" fmla="val 9317"/>
            </a:avLst>
          </a:prstGeom>
          <a:solidFill>
            <a:srgbClr val="FFFFFF"/>
          </a:solidFill>
          <a:ln w="635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05650" y="5841306"/>
            <a:ext cx="4484370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audiences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7105650" y="6381056"/>
            <a:ext cx="4199001" cy="1101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1C1B22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Students ⇄ Teachers switch changes the words, not the look — so it stays consistent.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931651" y="5415855"/>
            <a:ext cx="4927600" cy="2453580"/>
          </a:xfrm>
          <a:prstGeom prst="roundRect">
            <a:avLst>
              <a:gd name="adj" fmla="val 9317"/>
            </a:avLst>
          </a:prstGeom>
          <a:solidFill>
            <a:srgbClr val="FFFFFF"/>
          </a:solidFill>
          <a:ln w="6350">
            <a:solidFill>
              <a:srgbClr val="ECE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57100" y="5841306"/>
            <a:ext cx="4484370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a bare form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2357100" y="6381056"/>
            <a:ext cx="4199001" cy="74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1C1B22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pairs the form with a branded panel, testimonials and trust cues.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8750" y="2789833"/>
            <a:ext cx="10163175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32" kern="0" dirty="0">
                <a:solidFill>
                  <a:srgbClr val="5B5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LANDING PAGE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428750" y="3310533"/>
            <a:ext cx="9516428" cy="1613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164"/>
              </a:lnSpc>
              <a:buNone/>
            </a:pPr>
            <a:r>
              <a:rPr lang="en-US" sz="5850" b="1" spc="-175" kern="0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whole study life, in one place.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428750" y="5209381"/>
            <a:ext cx="7063740" cy="1278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1C1B22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segmented control tailors the message for students or teachers, backed by a soft product preview and social proof.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428750" y="6868517"/>
            <a:ext cx="2835771" cy="628650"/>
          </a:xfrm>
          <a:prstGeom prst="roundRect">
            <a:avLst>
              <a:gd name="adj" fmla="val 24242"/>
            </a:avLst>
          </a:prstGeom>
          <a:solidFill>
            <a:srgbClr val="5B5FDB"/>
          </a:solidFill>
          <a:ln/>
        </p:spPr>
      </p:sp>
      <p:sp>
        <p:nvSpPr>
          <p:cNvPr id="6" name="Text 4"/>
          <p:cNvSpPr/>
          <p:nvPr/>
        </p:nvSpPr>
        <p:spPr>
          <a:xfrm>
            <a:off x="1752600" y="6868517"/>
            <a:ext cx="2273144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studying free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4435971" y="6868517"/>
            <a:ext cx="1403152" cy="628650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635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66171" y="6874867"/>
            <a:ext cx="818952" cy="6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1525250" y="2867025"/>
            <a:ext cx="5334000" cy="4552950"/>
          </a:xfrm>
          <a:prstGeom prst="roundRect">
            <a:avLst>
              <a:gd name="adj" fmla="val 6695"/>
            </a:avLst>
          </a:prstGeom>
          <a:solidFill>
            <a:srgbClr val="FFFFFF"/>
          </a:solidFill>
          <a:ln w="6350">
            <a:solidFill>
              <a:srgbClr val="ECEAE4"/>
            </a:solidFill>
            <a:prstDash val="solid"/>
          </a:ln>
          <a:effectLst>
            <a:outerShdw sx="100000" sy="100000" kx="0" ky="0" algn="bl" rotWithShape="0" blurRad="666750" dist="285750" dir="5400000">
              <a:srgbClr val="14121E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912601" y="3254375"/>
            <a:ext cx="3694410" cy="635000"/>
          </a:xfrm>
          <a:prstGeom prst="roundRect">
            <a:avLst>
              <a:gd name="adj" fmla="val 24000"/>
            </a:avLst>
          </a:prstGeom>
          <a:solidFill>
            <a:srgbClr val="EFEDE7"/>
          </a:solidFill>
          <a:ln/>
        </p:spPr>
      </p:sp>
      <p:sp>
        <p:nvSpPr>
          <p:cNvPr id="11" name="Shape 9"/>
          <p:cNvSpPr/>
          <p:nvPr/>
        </p:nvSpPr>
        <p:spPr>
          <a:xfrm>
            <a:off x="11969751" y="3311525"/>
            <a:ext cx="1855490" cy="520700"/>
          </a:xfrm>
          <a:prstGeom prst="roundRect">
            <a:avLst>
              <a:gd name="adj" fmla="val 20122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2179301" y="3425825"/>
            <a:ext cx="151259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B5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students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4082415" y="3425825"/>
            <a:ext cx="1334095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teachers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1912601" y="4213225"/>
            <a:ext cx="4559300" cy="1409700"/>
          </a:xfrm>
          <a:prstGeom prst="roundRect">
            <a:avLst>
              <a:gd name="adj" fmla="val 13514"/>
            </a:avLst>
          </a:prstGeom>
          <a:solidFill>
            <a:srgbClr val="5B5FDB"/>
          </a:solidFill>
          <a:ln/>
        </p:spPr>
      </p:sp>
      <p:sp>
        <p:nvSpPr>
          <p:cNvPr id="15" name="Text 13"/>
          <p:cNvSpPr/>
          <p:nvPr/>
        </p:nvSpPr>
        <p:spPr>
          <a:xfrm>
            <a:off x="12160251" y="4460875"/>
            <a:ext cx="447040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60" kern="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160251" y="4714875"/>
            <a:ext cx="4470400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Structure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2160251" y="5260975"/>
            <a:ext cx="4064000" cy="114300"/>
          </a:xfrm>
          <a:prstGeom prst="roundRect">
            <a:avLst>
              <a:gd name="adj" fmla="val 50000"/>
            </a:avLst>
          </a:prstGeom>
          <a:solidFill>
            <a:srgbClr val="FFFFFF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2160251" y="5260975"/>
            <a:ext cx="2600920" cy="114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1912601" y="5946775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EEEDFB"/>
          </a:solidFill>
          <a:ln/>
        </p:spPr>
      </p:sp>
      <p:sp>
        <p:nvSpPr>
          <p:cNvPr id="20" name="Shape 18"/>
          <p:cNvSpPr/>
          <p:nvPr/>
        </p:nvSpPr>
        <p:spPr>
          <a:xfrm>
            <a:off x="12407901" y="6051550"/>
            <a:ext cx="4064000" cy="133350"/>
          </a:xfrm>
          <a:prstGeom prst="roundRect">
            <a:avLst>
              <a:gd name="adj" fmla="val 50000"/>
            </a:avLst>
          </a:prstGeom>
          <a:solidFill>
            <a:srgbClr val="1C1B22">
              <a:alpha val="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912601" y="6556375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EFEA"/>
          </a:solidFill>
          <a:ln/>
        </p:spPr>
      </p:sp>
      <p:sp>
        <p:nvSpPr>
          <p:cNvPr id="22" name="Shape 20"/>
          <p:cNvSpPr/>
          <p:nvPr/>
        </p:nvSpPr>
        <p:spPr>
          <a:xfrm>
            <a:off x="12407901" y="6661150"/>
            <a:ext cx="4064000" cy="133350"/>
          </a:xfrm>
          <a:prstGeom prst="roundRect">
            <a:avLst>
              <a:gd name="adj" fmla="val 50000"/>
            </a:avLst>
          </a:prstGeom>
          <a:solidFill>
            <a:srgbClr val="1C1B22">
              <a:alpha val="8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8750" y="1487488"/>
            <a:ext cx="169735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5B5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LANDING PAGE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28750" y="2020888"/>
            <a:ext cx="16973550" cy="1111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spc="-180" kern="0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tidy home for everything.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428750" y="3703638"/>
            <a:ext cx="4953000" cy="2405063"/>
          </a:xfrm>
          <a:prstGeom prst="roundRect">
            <a:avLst>
              <a:gd name="adj" fmla="val 9505"/>
            </a:avLst>
          </a:prstGeom>
          <a:solidFill>
            <a:srgbClr val="FFFFFF"/>
          </a:solidFill>
          <a:ln w="635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6100" y="4090987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EEEDFB"/>
          </a:solidFill>
          <a:ln/>
        </p:spPr>
      </p:sp>
      <p:sp>
        <p:nvSpPr>
          <p:cNvPr id="6" name="Text 4"/>
          <p:cNvSpPr/>
          <p:nvPr/>
        </p:nvSpPr>
        <p:spPr>
          <a:xfrm>
            <a:off x="1816100" y="4891088"/>
            <a:ext cx="4596130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Study Planner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816100" y="5392738"/>
            <a:ext cx="459613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1C1B22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Auto-builds your day around exams.</a:t>
            </a:r>
            <a:endParaRPr lang="en-US" sz="1725" dirty="0"/>
          </a:p>
        </p:txBody>
      </p:sp>
      <p:sp>
        <p:nvSpPr>
          <p:cNvPr id="8" name="Shape 6"/>
          <p:cNvSpPr/>
          <p:nvPr/>
        </p:nvSpPr>
        <p:spPr>
          <a:xfrm>
            <a:off x="6667500" y="3703638"/>
            <a:ext cx="4953000" cy="2405063"/>
          </a:xfrm>
          <a:prstGeom prst="roundRect">
            <a:avLst>
              <a:gd name="adj" fmla="val 9505"/>
            </a:avLst>
          </a:prstGeom>
          <a:solidFill>
            <a:srgbClr val="FFFFFF"/>
          </a:solidFill>
          <a:ln w="635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54850" y="4090987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EEEDFB"/>
          </a:solidFill>
          <a:ln/>
        </p:spPr>
      </p:sp>
      <p:sp>
        <p:nvSpPr>
          <p:cNvPr id="10" name="Text 8"/>
          <p:cNvSpPr/>
          <p:nvPr/>
        </p:nvSpPr>
        <p:spPr>
          <a:xfrm>
            <a:off x="7054850" y="4891088"/>
            <a:ext cx="4596130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Library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7054850" y="5392738"/>
            <a:ext cx="459613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1C1B22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subject, neatly organised.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11906250" y="3703638"/>
            <a:ext cx="4953000" cy="2405063"/>
          </a:xfrm>
          <a:prstGeom prst="roundRect">
            <a:avLst>
              <a:gd name="adj" fmla="val 9505"/>
            </a:avLst>
          </a:prstGeom>
          <a:solidFill>
            <a:srgbClr val="FFFFFF"/>
          </a:solidFill>
          <a:ln w="635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293601" y="4090987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EEEDFB"/>
          </a:solidFill>
          <a:ln/>
        </p:spPr>
      </p:sp>
      <p:sp>
        <p:nvSpPr>
          <p:cNvPr id="14" name="Text 12"/>
          <p:cNvSpPr/>
          <p:nvPr/>
        </p:nvSpPr>
        <p:spPr>
          <a:xfrm>
            <a:off x="12293601" y="4891088"/>
            <a:ext cx="4596130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Papers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2293601" y="5392738"/>
            <a:ext cx="459613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1C1B22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Board-wise, searchable and sorted.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1428750" y="6394450"/>
            <a:ext cx="4953000" cy="2405063"/>
          </a:xfrm>
          <a:prstGeom prst="roundRect">
            <a:avLst>
              <a:gd name="adj" fmla="val 9505"/>
            </a:avLst>
          </a:prstGeom>
          <a:solidFill>
            <a:srgbClr val="FFFFFF"/>
          </a:solidFill>
          <a:ln w="6350">
            <a:solidFill>
              <a:srgbClr val="ECEA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16100" y="6781800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EEEDFB"/>
          </a:solidFill>
          <a:ln/>
        </p:spPr>
      </p:sp>
      <p:sp>
        <p:nvSpPr>
          <p:cNvPr id="18" name="Text 16"/>
          <p:cNvSpPr/>
          <p:nvPr/>
        </p:nvSpPr>
        <p:spPr>
          <a:xfrm>
            <a:off x="1816100" y="7581900"/>
            <a:ext cx="4596130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Flashcards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816100" y="8083550"/>
            <a:ext cx="459613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1C1B22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Spaced repetition that sticks.</a:t>
            </a:r>
            <a:endParaRPr lang="en-US" sz="1725" dirty="0"/>
          </a:p>
        </p:txBody>
      </p:sp>
      <p:sp>
        <p:nvSpPr>
          <p:cNvPr id="20" name="Shape 18"/>
          <p:cNvSpPr/>
          <p:nvPr/>
        </p:nvSpPr>
        <p:spPr>
          <a:xfrm>
            <a:off x="6667500" y="6394450"/>
            <a:ext cx="4953000" cy="2405063"/>
          </a:xfrm>
          <a:prstGeom prst="roundRect">
            <a:avLst>
              <a:gd name="adj" fmla="val 9505"/>
            </a:avLst>
          </a:prstGeom>
          <a:solidFill>
            <a:srgbClr val="FFFFFF"/>
          </a:solidFill>
          <a:ln w="6350">
            <a:solidFill>
              <a:srgbClr val="ECEA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54850" y="6781800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EEEDFB"/>
          </a:solidFill>
          <a:ln/>
        </p:spPr>
      </p:sp>
      <p:sp>
        <p:nvSpPr>
          <p:cNvPr id="22" name="Text 20"/>
          <p:cNvSpPr/>
          <p:nvPr/>
        </p:nvSpPr>
        <p:spPr>
          <a:xfrm>
            <a:off x="7054850" y="7581900"/>
            <a:ext cx="4596130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Countdown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7054850" y="8083550"/>
            <a:ext cx="459613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1C1B22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miss a deadline again.</a:t>
            </a:r>
            <a:endParaRPr lang="en-US" sz="1725" dirty="0"/>
          </a:p>
        </p:txBody>
      </p:sp>
      <p:sp>
        <p:nvSpPr>
          <p:cNvPr id="24" name="Shape 22"/>
          <p:cNvSpPr/>
          <p:nvPr/>
        </p:nvSpPr>
        <p:spPr>
          <a:xfrm>
            <a:off x="11906250" y="6394450"/>
            <a:ext cx="4953000" cy="2405063"/>
          </a:xfrm>
          <a:prstGeom prst="roundRect">
            <a:avLst>
              <a:gd name="adj" fmla="val 9505"/>
            </a:avLst>
          </a:prstGeom>
          <a:solidFill>
            <a:srgbClr val="FFFFFF"/>
          </a:solidFill>
          <a:ln w="6350">
            <a:solidFill>
              <a:srgbClr val="ECEA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293601" y="6781800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EEEDFB"/>
          </a:solidFill>
          <a:ln/>
        </p:spPr>
      </p:sp>
      <p:sp>
        <p:nvSpPr>
          <p:cNvPr id="26" name="Text 24"/>
          <p:cNvSpPr/>
          <p:nvPr/>
        </p:nvSpPr>
        <p:spPr>
          <a:xfrm>
            <a:off x="12293601" y="7581900"/>
            <a:ext cx="4596130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Summaries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2293601" y="8083550"/>
            <a:ext cx="459613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1C1B22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notes into crisp cards.</a:t>
            </a:r>
            <a:endParaRPr lang="en-US" sz="17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412460" cy="10287000"/>
          </a:xfrm>
          <a:prstGeom prst="rect">
            <a:avLst/>
          </a:prstGeom>
          <a:gradFill rotWithShape="1">
            <a:gsLst>
              <a:gs pos="0">
                <a:srgbClr val="5B5FDB">
                  <a:alpha val="100000"/>
                </a:srgbClr>
              </a:gs>
              <a:gs pos="100000">
                <a:srgbClr val="4145BD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857250" y="123825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19150" y="123825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543050" y="1301750"/>
            <a:ext cx="1466741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StudyOS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857250" y="2801838"/>
            <a:ext cx="6898899" cy="1440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176"/>
              </a:lnSpc>
              <a:buNone/>
            </a:pPr>
            <a:r>
              <a:rPr lang="en-US" sz="4800" b="1" spc="-14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back to calmer studying.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857250" y="4622899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19150" y="4622899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409700" y="4664174"/>
            <a:ext cx="625036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plan and progress, right where you left them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857250" y="5251549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19150" y="5251549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1409700" y="5292825"/>
            <a:ext cx="501952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Notes, papers and flashcards in one tap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857250" y="5880199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19150" y="5880199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1409700" y="5921475"/>
            <a:ext cx="471958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offline when your signal drops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857250" y="7291388"/>
            <a:ext cx="6697960" cy="1757363"/>
          </a:xfrm>
          <a:prstGeom prst="roundRect">
            <a:avLst>
              <a:gd name="adj" fmla="val 11924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7621588"/>
            <a:ext cx="5962892" cy="661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814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"StudyOS replaced five apps. My exam prep has never felt this calm."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143000" y="8462963"/>
            <a:ext cx="673910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703"/>
              </a:lnSpc>
              <a:buNone/>
            </a:pPr>
            <a:r>
              <a:rPr lang="en-US" sz="1575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Aisha Rahman · Class 12 · CBSE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8412460" y="0"/>
            <a:ext cx="9875441" cy="10287000"/>
          </a:xfrm>
          <a:prstGeom prst="rect">
            <a:avLst/>
          </a:prstGeom>
          <a:solidFill>
            <a:srgbClr val="FAF9F6"/>
          </a:solidFill>
          <a:ln/>
        </p:spPr>
      </p:sp>
      <p:sp>
        <p:nvSpPr>
          <p:cNvPr id="20" name="Shape 18"/>
          <p:cNvSpPr/>
          <p:nvPr/>
        </p:nvSpPr>
        <p:spPr>
          <a:xfrm>
            <a:off x="10302180" y="2082800"/>
            <a:ext cx="6096000" cy="61214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6350">
            <a:solidFill>
              <a:srgbClr val="ECEAE4"/>
            </a:solidFill>
            <a:prstDash val="solid"/>
          </a:ln>
          <a:effectLst>
            <a:outerShdw sx="100000" sy="100000" kx="0" ky="0" algn="bl" rotWithShape="0" blurRad="666750" dist="285750" dir="5400000">
              <a:srgbClr val="14121E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841931" y="2622550"/>
            <a:ext cx="495300" cy="495300"/>
          </a:xfrm>
          <a:prstGeom prst="roundRect">
            <a:avLst>
              <a:gd name="adj" fmla="val 28846"/>
            </a:avLst>
          </a:prstGeom>
          <a:solidFill>
            <a:srgbClr val="5B5FDB"/>
          </a:solidFill>
          <a:ln/>
        </p:spPr>
      </p:sp>
      <p:sp>
        <p:nvSpPr>
          <p:cNvPr id="22" name="Text 20"/>
          <p:cNvSpPr/>
          <p:nvPr/>
        </p:nvSpPr>
        <p:spPr>
          <a:xfrm>
            <a:off x="10803831" y="2622550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0841931" y="3365500"/>
            <a:ext cx="55181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back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0841931" y="4051300"/>
            <a:ext cx="55181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 to pick up where you left off.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841931" y="4660900"/>
            <a:ext cx="5016500" cy="704850"/>
          </a:xfrm>
          <a:prstGeom prst="roundRect">
            <a:avLst>
              <a:gd name="adj" fmla="val 21622"/>
            </a:avLst>
          </a:prstGeom>
          <a:ln w="6350">
            <a:solidFill>
              <a:srgbClr val="ECEA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959630" y="4870450"/>
            <a:ext cx="285750" cy="28575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27" name="Text 25"/>
          <p:cNvSpPr/>
          <p:nvPr/>
        </p:nvSpPr>
        <p:spPr>
          <a:xfrm>
            <a:off x="12378730" y="4879975"/>
            <a:ext cx="2438102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with Google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841931" y="5651500"/>
            <a:ext cx="551815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0841931" y="6007100"/>
            <a:ext cx="5016500" cy="704850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 w="6350">
            <a:solidFill>
              <a:srgbClr val="ECEA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841931" y="6959600"/>
            <a:ext cx="5016500" cy="704850"/>
          </a:xfrm>
          <a:prstGeom prst="roundRect">
            <a:avLst>
              <a:gd name="adj" fmla="val 21622"/>
            </a:avLst>
          </a:prstGeom>
          <a:solidFill>
            <a:srgbClr val="5B5FDB"/>
          </a:solidFill>
          <a:ln/>
        </p:spPr>
      </p:sp>
      <p:sp>
        <p:nvSpPr>
          <p:cNvPr id="31" name="Text 29"/>
          <p:cNvSpPr/>
          <p:nvPr/>
        </p:nvSpPr>
        <p:spPr>
          <a:xfrm>
            <a:off x="10766684" y="6959600"/>
            <a:ext cx="516699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412460" cy="10287000"/>
          </a:xfrm>
          <a:prstGeom prst="rect">
            <a:avLst/>
          </a:prstGeom>
          <a:gradFill rotWithShape="1">
            <a:gsLst>
              <a:gs pos="0">
                <a:srgbClr val="5B5FDB">
                  <a:alpha val="100000"/>
                </a:srgbClr>
              </a:gs>
              <a:gs pos="100000">
                <a:srgbClr val="4145BD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857250" y="123825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19150" y="123825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543050" y="1301750"/>
            <a:ext cx="1466741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StudyOS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857250" y="2860179"/>
            <a:ext cx="6898899" cy="2141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176"/>
              </a:lnSpc>
              <a:buNone/>
            </a:pPr>
            <a:r>
              <a:rPr lang="en-US" sz="4800" b="1" spc="-14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12,000+ students and teachers.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857250" y="5382220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19150" y="538222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409700" y="5423496"/>
            <a:ext cx="451917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forever plan — no card needed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857250" y="6010870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19150" y="601087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1409700" y="6052146"/>
            <a:ext cx="354668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in under two minutes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857250" y="6639520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19150" y="663952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1409700" y="6680796"/>
            <a:ext cx="529422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to your board, class and subjects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857250" y="8108950"/>
            <a:ext cx="1449933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12k+</a:t>
            </a:r>
            <a:endParaRPr lang="en-US" sz="3900" dirty="0"/>
          </a:p>
        </p:txBody>
      </p:sp>
      <p:sp>
        <p:nvSpPr>
          <p:cNvPr id="17" name="Text 15"/>
          <p:cNvSpPr/>
          <p:nvPr/>
        </p:nvSpPr>
        <p:spPr>
          <a:xfrm>
            <a:off x="857250" y="8807450"/>
            <a:ext cx="1449933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2708771" y="8108950"/>
            <a:ext cx="1449933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800+</a:t>
            </a:r>
            <a:endParaRPr lang="en-US" sz="3900" dirty="0"/>
          </a:p>
        </p:txBody>
      </p:sp>
      <p:sp>
        <p:nvSpPr>
          <p:cNvPr id="19" name="Text 17"/>
          <p:cNvSpPr/>
          <p:nvPr/>
        </p:nvSpPr>
        <p:spPr>
          <a:xfrm>
            <a:off x="2708771" y="8807450"/>
            <a:ext cx="1449933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4560292" y="8108950"/>
            <a:ext cx="1362075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4.8★</a:t>
            </a:r>
            <a:endParaRPr lang="en-US" sz="3900" dirty="0"/>
          </a:p>
        </p:txBody>
      </p:sp>
      <p:sp>
        <p:nvSpPr>
          <p:cNvPr id="21" name="Text 19"/>
          <p:cNvSpPr/>
          <p:nvPr/>
        </p:nvSpPr>
        <p:spPr>
          <a:xfrm>
            <a:off x="4560292" y="8807450"/>
            <a:ext cx="136207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rated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8412460" y="0"/>
            <a:ext cx="9875441" cy="10287000"/>
          </a:xfrm>
          <a:prstGeom prst="rect">
            <a:avLst/>
          </a:prstGeom>
          <a:solidFill>
            <a:srgbClr val="FAF9F6"/>
          </a:solidFill>
          <a:ln/>
        </p:spPr>
      </p:sp>
      <p:sp>
        <p:nvSpPr>
          <p:cNvPr id="23" name="Shape 21"/>
          <p:cNvSpPr/>
          <p:nvPr/>
        </p:nvSpPr>
        <p:spPr>
          <a:xfrm>
            <a:off x="10302180" y="2647950"/>
            <a:ext cx="6096000" cy="4991100"/>
          </a:xfrm>
          <a:prstGeom prst="roundRect">
            <a:avLst>
              <a:gd name="adj" fmla="val 5344"/>
            </a:avLst>
          </a:prstGeom>
          <a:solidFill>
            <a:srgbClr val="FFFFFF"/>
          </a:solidFill>
          <a:ln w="6350">
            <a:solidFill>
              <a:srgbClr val="ECEAE4"/>
            </a:solidFill>
            <a:prstDash val="solid"/>
          </a:ln>
          <a:effectLst>
            <a:outerShdw sx="100000" sy="100000" kx="0" ky="0" algn="bl" rotWithShape="0" blurRad="666750" dist="285750" dir="5400000">
              <a:srgbClr val="14121E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841931" y="3187700"/>
            <a:ext cx="55181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your account</a:t>
            </a:r>
            <a:endParaRPr lang="en-US" sz="3300" dirty="0"/>
          </a:p>
        </p:txBody>
      </p:sp>
      <p:sp>
        <p:nvSpPr>
          <p:cNvPr id="25" name="Text 23"/>
          <p:cNvSpPr/>
          <p:nvPr/>
        </p:nvSpPr>
        <p:spPr>
          <a:xfrm>
            <a:off x="10841931" y="3873500"/>
            <a:ext cx="55181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— who's signing up?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841931" y="4464050"/>
            <a:ext cx="2413000" cy="1606550"/>
          </a:xfrm>
          <a:prstGeom prst="roundRect">
            <a:avLst>
              <a:gd name="adj" fmla="val 11858"/>
            </a:avLst>
          </a:prstGeom>
          <a:solidFill>
            <a:srgbClr val="EEEDFB"/>
          </a:solidFill>
          <a:ln w="19050">
            <a:solidFill>
              <a:srgbClr val="5B5F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127681" y="47498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11127681" y="5435600"/>
            <a:ext cx="20256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a student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13445430" y="4464050"/>
            <a:ext cx="2413000" cy="1606550"/>
          </a:xfrm>
          <a:prstGeom prst="roundRect">
            <a:avLst>
              <a:gd name="adj" fmla="val 11858"/>
            </a:avLst>
          </a:prstGeom>
          <a:ln w="6350">
            <a:solidFill>
              <a:srgbClr val="ECEA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718481" y="47371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EEDFB"/>
          </a:solidFill>
          <a:ln/>
        </p:spPr>
      </p:sp>
      <p:sp>
        <p:nvSpPr>
          <p:cNvPr id="31" name="Text 29"/>
          <p:cNvSpPr/>
          <p:nvPr/>
        </p:nvSpPr>
        <p:spPr>
          <a:xfrm>
            <a:off x="13718481" y="5422900"/>
            <a:ext cx="205359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a teacher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0841931" y="6394450"/>
            <a:ext cx="5016500" cy="704850"/>
          </a:xfrm>
          <a:prstGeom prst="roundRect">
            <a:avLst>
              <a:gd name="adj" fmla="val 21622"/>
            </a:avLst>
          </a:prstGeom>
          <a:ln w="6350">
            <a:solidFill>
              <a:srgbClr val="ECEA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959630" y="6604000"/>
            <a:ext cx="285750" cy="28575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34" name="Text 32"/>
          <p:cNvSpPr/>
          <p:nvPr/>
        </p:nvSpPr>
        <p:spPr>
          <a:xfrm>
            <a:off x="12378730" y="6613525"/>
            <a:ext cx="2438102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with Google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8750" y="2593975"/>
            <a:ext cx="169735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5B5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28750" y="3127375"/>
            <a:ext cx="16973550" cy="1111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spc="-180" kern="0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a small, consistent kit.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428750" y="4772025"/>
            <a:ext cx="8538468" cy="29210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635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54200" y="5197475"/>
            <a:ext cx="845632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Palette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854200" y="5794375"/>
            <a:ext cx="1143000" cy="1143000"/>
          </a:xfrm>
          <a:prstGeom prst="roundRect">
            <a:avLst>
              <a:gd name="adj" fmla="val 16667"/>
            </a:avLst>
          </a:prstGeom>
          <a:solidFill>
            <a:srgbClr val="5B5FDB"/>
          </a:solidFill>
          <a:ln/>
        </p:spPr>
      </p:sp>
      <p:sp>
        <p:nvSpPr>
          <p:cNvPr id="7" name="Text 5"/>
          <p:cNvSpPr/>
          <p:nvPr/>
        </p:nvSpPr>
        <p:spPr>
          <a:xfrm>
            <a:off x="1816100" y="7051675"/>
            <a:ext cx="121920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Indigo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187700" y="5794375"/>
            <a:ext cx="1143000" cy="1143000"/>
          </a:xfrm>
          <a:prstGeom prst="roundRect">
            <a:avLst>
              <a:gd name="adj" fmla="val 16667"/>
            </a:avLst>
          </a:prstGeom>
          <a:solidFill>
            <a:srgbClr val="EEEDFB"/>
          </a:solidFill>
          <a:ln/>
        </p:spPr>
      </p:sp>
      <p:sp>
        <p:nvSpPr>
          <p:cNvPr id="9" name="Text 7"/>
          <p:cNvSpPr/>
          <p:nvPr/>
        </p:nvSpPr>
        <p:spPr>
          <a:xfrm>
            <a:off x="3149600" y="7051675"/>
            <a:ext cx="121920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21200" y="5794375"/>
            <a:ext cx="1143000" cy="1143000"/>
          </a:xfrm>
          <a:prstGeom prst="roundRect">
            <a:avLst>
              <a:gd name="adj" fmla="val 16667"/>
            </a:avLst>
          </a:prstGeom>
          <a:solidFill>
            <a:srgbClr val="FAF9F6"/>
          </a:solidFill>
          <a:ln w="6350">
            <a:solidFill>
              <a:srgbClr val="ECE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3100" y="7051675"/>
            <a:ext cx="121920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854700" y="5794375"/>
            <a:ext cx="1143000" cy="1143000"/>
          </a:xfrm>
          <a:prstGeom prst="roundRect">
            <a:avLst>
              <a:gd name="adj" fmla="val 16667"/>
            </a:avLst>
          </a:prstGeom>
          <a:solidFill>
            <a:srgbClr val="F4F2EC"/>
          </a:solidFill>
          <a:ln/>
        </p:spPr>
      </p:sp>
      <p:sp>
        <p:nvSpPr>
          <p:cNvPr id="13" name="Text 11"/>
          <p:cNvSpPr/>
          <p:nvPr/>
        </p:nvSpPr>
        <p:spPr>
          <a:xfrm>
            <a:off x="5816600" y="7051675"/>
            <a:ext cx="121920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188200" y="5794375"/>
            <a:ext cx="1143000" cy="1143000"/>
          </a:xfrm>
          <a:prstGeom prst="roundRect">
            <a:avLst>
              <a:gd name="adj" fmla="val 16667"/>
            </a:avLst>
          </a:prstGeom>
          <a:solidFill>
            <a:srgbClr val="1C1B22"/>
          </a:solidFill>
          <a:ln/>
        </p:spPr>
      </p:sp>
      <p:sp>
        <p:nvSpPr>
          <p:cNvPr id="15" name="Text 13"/>
          <p:cNvSpPr/>
          <p:nvPr/>
        </p:nvSpPr>
        <p:spPr>
          <a:xfrm>
            <a:off x="7150100" y="7051675"/>
            <a:ext cx="121920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291068" y="4772025"/>
            <a:ext cx="6568182" cy="29210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6350">
            <a:solidFill>
              <a:srgbClr val="ECEA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16518" y="5197475"/>
            <a:ext cx="6289011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&amp; shape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716518" y="5756275"/>
            <a:ext cx="6289011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305"/>
              </a:lnSpc>
              <a:buNone/>
            </a:pPr>
            <a:r>
              <a:rPr lang="en-US" sz="4200" b="1" spc="-84" kern="0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Jakarta Sans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10716518" y="6457256"/>
            <a:ext cx="588880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1C1B22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 display · 500 body. Radii 12–24px, soft shadows, 1px warm borders. 44px+ touch targets.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B5F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8750" y="2954040"/>
            <a:ext cx="169735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BEHAVIOUR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28750" y="3487440"/>
            <a:ext cx="14668500" cy="116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b="1" spc="-18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the phone first.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1428750" y="5246390"/>
            <a:ext cx="4927600" cy="2086570"/>
          </a:xfrm>
          <a:prstGeom prst="roundRect">
            <a:avLst>
              <a:gd name="adj" fmla="val 10956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847850" y="5665490"/>
            <a:ext cx="4498340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847850" y="6205240"/>
            <a:ext cx="4212082" cy="74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column, stacked form, trust line, 44px+ tap targets.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80200" y="5246390"/>
            <a:ext cx="4927600" cy="2086570"/>
          </a:xfrm>
          <a:prstGeom prst="roundRect">
            <a:avLst>
              <a:gd name="adj" fmla="val 10956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099300" y="5665490"/>
            <a:ext cx="4498340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Tablet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7099300" y="6205240"/>
            <a:ext cx="4212082" cy="74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Two-column grids; the auth split with brand panel returns.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931651" y="5246390"/>
            <a:ext cx="4927600" cy="2086570"/>
          </a:xfrm>
          <a:prstGeom prst="roundRect">
            <a:avLst>
              <a:gd name="adj" fmla="val 10956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2350751" y="5665490"/>
            <a:ext cx="4498340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2350751" y="6205240"/>
            <a:ext cx="4212082" cy="74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Roomy three-column landing and a full split-screen auth.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8750" y="2913956"/>
            <a:ext cx="571500" cy="571500"/>
          </a:xfrm>
          <a:prstGeom prst="roundRect">
            <a:avLst>
              <a:gd name="adj" fmla="val 26667"/>
            </a:avLst>
          </a:prstGeom>
          <a:solidFill>
            <a:srgbClr val="5B5FDB"/>
          </a:solidFill>
          <a:ln/>
        </p:spPr>
      </p:sp>
      <p:sp>
        <p:nvSpPr>
          <p:cNvPr id="3" name="Text 1"/>
          <p:cNvSpPr/>
          <p:nvPr/>
        </p:nvSpPr>
        <p:spPr>
          <a:xfrm>
            <a:off x="1390650" y="2913956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2171700" y="2983806"/>
            <a:ext cx="1564422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28750" y="3961706"/>
            <a:ext cx="14716125" cy="2058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327"/>
              </a:lnSpc>
              <a:buNone/>
            </a:pPr>
            <a:r>
              <a:rPr lang="en-US" sz="7800" b="1" spc="-27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Calm, cohesive, ready to build.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1428750" y="6401495"/>
            <a:ext cx="10791825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661"/>
              </a:lnSpc>
              <a:buNone/>
            </a:pPr>
            <a:r>
              <a:rPr lang="en-US" sz="25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Landing, login and register — one accent, one type system, mobile-first throughout.</a:t>
            </a:r>
            <a:endParaRPr lang="en-US" sz="2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2026-07-18T14:58:15Z</dcterms:created>
  <dcterms:modified xsi:type="dcterms:W3CDTF">2026-07-18T14:58:15Z</dcterms:modified>
</cp:coreProperties>
</file>